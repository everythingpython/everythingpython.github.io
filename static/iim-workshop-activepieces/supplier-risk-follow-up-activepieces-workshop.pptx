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30082e4dcf498d" /><Relationship Type="http://schemas.openxmlformats.org/officeDocument/2006/relationships/extended-properties" Target="/docProps/app.xml" Id="Rb7349c266f3048b1" /><Relationship Type="http://schemas.openxmlformats.org/officeDocument/2006/relationships/officeDocument" Target="/ppt/presentation.xml" Id="R444e51c431e14e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9ac4b5ea984513"/>
  </p:sldMasterIdLst>
  <p:notesMasterIdLst>
    <p:notesMasterId xmlns:r="http://schemas.openxmlformats.org/officeDocument/2006/relationships" r:id="R79ee5420d0aa4057"/>
  </p:notesMasterIdLst>
  <p:sldIdLst>
    <p:sldId xmlns:r="http://schemas.openxmlformats.org/officeDocument/2006/relationships" id="256" r:id="R4992968fedc04269"/>
    <p:sldId xmlns:r="http://schemas.openxmlformats.org/officeDocument/2006/relationships" id="257" r:id="R7b94269c72c94ee5"/>
    <p:sldId xmlns:r="http://schemas.openxmlformats.org/officeDocument/2006/relationships" id="258" r:id="R39d60f8174b64e41"/>
    <p:sldId xmlns:r="http://schemas.openxmlformats.org/officeDocument/2006/relationships" id="259" r:id="R33aa154c0c47448e"/>
    <p:sldId xmlns:r="http://schemas.openxmlformats.org/officeDocument/2006/relationships" id="260" r:id="R13070711641c4670"/>
    <p:sldId xmlns:r="http://schemas.openxmlformats.org/officeDocument/2006/relationships" id="261" r:id="Raf0a9bb355de4ffc"/>
    <p:sldId xmlns:r="http://schemas.openxmlformats.org/officeDocument/2006/relationships" id="262" r:id="Rc3d75c8ea72c4a1a"/>
    <p:sldId xmlns:r="http://schemas.openxmlformats.org/officeDocument/2006/relationships" id="263" r:id="R1e3705083fd24a7e"/>
    <p:sldId xmlns:r="http://schemas.openxmlformats.org/officeDocument/2006/relationships" id="264" r:id="Ra9dcfe5418404f2f"/>
    <p:sldId xmlns:r="http://schemas.openxmlformats.org/officeDocument/2006/relationships" id="265" r:id="Rd2873919abfd4327"/>
    <p:sldId xmlns:r="http://schemas.openxmlformats.org/officeDocument/2006/relationships" id="266" r:id="Ra22eeb7852fb4a9b"/>
    <p:sldId xmlns:r="http://schemas.openxmlformats.org/officeDocument/2006/relationships" id="267" r:id="R275d695e71c4451e"/>
    <p:sldId xmlns:r="http://schemas.openxmlformats.org/officeDocument/2006/relationships" id="268" r:id="Rb7957a7a9a9843cf"/>
    <p:sldId xmlns:r="http://schemas.openxmlformats.org/officeDocument/2006/relationships" id="269" r:id="R9c71cb61db70419a"/>
    <p:sldId xmlns:r="http://schemas.openxmlformats.org/officeDocument/2006/relationships" id="270" r:id="R35ebc0c5f5b9461a"/>
    <p:sldId xmlns:r="http://schemas.openxmlformats.org/officeDocument/2006/relationships" id="271" r:id="R00d425f72bcb4559"/>
    <p:sldId xmlns:r="http://schemas.openxmlformats.org/officeDocument/2006/relationships" id="272" r:id="R177fd0152a494729"/>
    <p:sldId xmlns:r="http://schemas.openxmlformats.org/officeDocument/2006/relationships" id="273" r:id="Re4bb5cccff534b3e"/>
    <p:sldId xmlns:r="http://schemas.openxmlformats.org/officeDocument/2006/relationships" id="274" r:id="Rb790a1f118ba410d"/>
    <p:sldId xmlns:r="http://schemas.openxmlformats.org/officeDocument/2006/relationships" id="275" r:id="Rfad5ad1e40a846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6175b971d04740" /><Relationship Type="http://schemas.openxmlformats.org/officeDocument/2006/relationships/slideMaster" Target="/ppt/slideMasters/slideMaster1.xml" Id="Re39ac4b5ea984513" /><Relationship Type="http://schemas.openxmlformats.org/officeDocument/2006/relationships/notesMaster" Target="/ppt/notesMasters/notesMaster1.xml" Id="R79ee5420d0aa4057" /><Relationship Type="http://schemas.openxmlformats.org/officeDocument/2006/relationships/presProps" Target="/ppt/presProps.xml" Id="Rfe5bf7f88e6b4dfc" /><Relationship Type="http://schemas.openxmlformats.org/officeDocument/2006/relationships/tableStyles" Target="/ppt/tableStyles.xml" Id="Rc50481c999ec4e65" /><Relationship Type="http://schemas.openxmlformats.org/officeDocument/2006/relationships/slide" Target="/ppt/slides/slide1.xml" Id="R4992968fedc04269" /><Relationship Type="http://schemas.openxmlformats.org/officeDocument/2006/relationships/slide" Target="/ppt/slides/slide2.xml" Id="R7b94269c72c94ee5" /><Relationship Type="http://schemas.openxmlformats.org/officeDocument/2006/relationships/slide" Target="/ppt/slides/slide3.xml" Id="R39d60f8174b64e41" /><Relationship Type="http://schemas.openxmlformats.org/officeDocument/2006/relationships/slide" Target="/ppt/slides/slide4.xml" Id="R33aa154c0c47448e" /><Relationship Type="http://schemas.openxmlformats.org/officeDocument/2006/relationships/slide" Target="/ppt/slides/slide5.xml" Id="R13070711641c4670" /><Relationship Type="http://schemas.openxmlformats.org/officeDocument/2006/relationships/slide" Target="/ppt/slides/slide6.xml" Id="Raf0a9bb355de4ffc" /><Relationship Type="http://schemas.openxmlformats.org/officeDocument/2006/relationships/slide" Target="/ppt/slides/slide7.xml" Id="Rc3d75c8ea72c4a1a" /><Relationship Type="http://schemas.openxmlformats.org/officeDocument/2006/relationships/slide" Target="/ppt/slides/slide8.xml" Id="R1e3705083fd24a7e" /><Relationship Type="http://schemas.openxmlformats.org/officeDocument/2006/relationships/slide" Target="/ppt/slides/slide9.xml" Id="Ra9dcfe5418404f2f" /><Relationship Type="http://schemas.openxmlformats.org/officeDocument/2006/relationships/slide" Target="/ppt/slides/slide10.xml" Id="Rd2873919abfd4327" /><Relationship Type="http://schemas.openxmlformats.org/officeDocument/2006/relationships/slide" Target="/ppt/slides/slide11.xml" Id="Ra22eeb7852fb4a9b" /><Relationship Type="http://schemas.openxmlformats.org/officeDocument/2006/relationships/slide" Target="/ppt/slides/slide12.xml" Id="R275d695e71c4451e" /><Relationship Type="http://schemas.openxmlformats.org/officeDocument/2006/relationships/slide" Target="/ppt/slides/slide13.xml" Id="Rb7957a7a9a9843cf" /><Relationship Type="http://schemas.openxmlformats.org/officeDocument/2006/relationships/slide" Target="/ppt/slides/slide14.xml" Id="R9c71cb61db70419a" /><Relationship Type="http://schemas.openxmlformats.org/officeDocument/2006/relationships/slide" Target="/ppt/slides/slide15.xml" Id="R35ebc0c5f5b9461a" /><Relationship Type="http://schemas.openxmlformats.org/officeDocument/2006/relationships/slide" Target="/ppt/slides/slide16.xml" Id="R00d425f72bcb4559" /><Relationship Type="http://schemas.openxmlformats.org/officeDocument/2006/relationships/slide" Target="/ppt/slides/slide17.xml" Id="R177fd0152a494729" /><Relationship Type="http://schemas.openxmlformats.org/officeDocument/2006/relationships/slide" Target="/ppt/slides/slide18.xml" Id="Re4bb5cccff534b3e" /><Relationship Type="http://schemas.openxmlformats.org/officeDocument/2006/relationships/slide" Target="/ppt/slides/slide19.xml" Id="Rb790a1f118ba410d" /><Relationship Type="http://schemas.openxmlformats.org/officeDocument/2006/relationships/slide" Target="/ppt/slides/slide20.xml" Id="Rfad5ad1e40a846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5f2dcd6e5547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a3d440852a4fca" /><Relationship Type="http://schemas.openxmlformats.org/officeDocument/2006/relationships/notesMaster" Target="/ppt/notesMasters/notesMaster1.xml" Id="R3b2a91f616164c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630818e1f74e55" /><Relationship Type="http://schemas.openxmlformats.org/officeDocument/2006/relationships/notesMaster" Target="/ppt/notesMasters/notesMaster1.xml" Id="R0a3cb729334545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eb73d6f763496c" /><Relationship Type="http://schemas.openxmlformats.org/officeDocument/2006/relationships/notesMaster" Target="/ppt/notesMasters/notesMaster1.xml" Id="Rf32d8e23fa7945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f10ee968611479e" /><Relationship Type="http://schemas.openxmlformats.org/officeDocument/2006/relationships/notesMaster" Target="/ppt/notesMasters/notesMaster1.xml" Id="R8471a9fa8aac47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e265ab92234454" /><Relationship Type="http://schemas.openxmlformats.org/officeDocument/2006/relationships/notesMaster" Target="/ppt/notesMasters/notesMaster1.xml" Id="R476c5434f94241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7d8ce008f54923" /><Relationship Type="http://schemas.openxmlformats.org/officeDocument/2006/relationships/notesMaster" Target="/ppt/notesMasters/notesMaster1.xml" Id="R0f89b8491f6d4f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cdfc763ad64549" /><Relationship Type="http://schemas.openxmlformats.org/officeDocument/2006/relationships/notesMaster" Target="/ppt/notesMasters/notesMaster1.xml" Id="Rb5386590fc6a413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f63a20851740d7" /><Relationship Type="http://schemas.openxmlformats.org/officeDocument/2006/relationships/notesMaster" Target="/ppt/notesMasters/notesMaster1.xml" Id="Rdf72701f71284f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992527e33c45af" /><Relationship Type="http://schemas.openxmlformats.org/officeDocument/2006/relationships/notesMaster" Target="/ppt/notesMasters/notesMaster1.xml" Id="Rf2d5b230119a49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f386b721d44c3f" /><Relationship Type="http://schemas.openxmlformats.org/officeDocument/2006/relationships/notesMaster" Target="/ppt/notesMasters/notesMaster1.xml" Id="R55509cf88198413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2449a76362e4a66" /><Relationship Type="http://schemas.openxmlformats.org/officeDocument/2006/relationships/notesMaster" Target="/ppt/notesMasters/notesMaster1.xml" Id="Rb447712b7394480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07c0ecfa3943fe" /><Relationship Type="http://schemas.openxmlformats.org/officeDocument/2006/relationships/notesMaster" Target="/ppt/notesMasters/notesMaster1.xml" Id="R90f0374f4a6c4a9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4226619e8e8434b" /><Relationship Type="http://schemas.openxmlformats.org/officeDocument/2006/relationships/notesMaster" Target="/ppt/notesMasters/notesMaster1.xml" Id="Red5e5075a0c143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4d22c95ce6b4c8e" /><Relationship Type="http://schemas.openxmlformats.org/officeDocument/2006/relationships/notesMaster" Target="/ppt/notesMasters/notesMaster1.xml" Id="R78bc859554a5485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b8272d21f094462" /><Relationship Type="http://schemas.openxmlformats.org/officeDocument/2006/relationships/notesMaster" Target="/ppt/notesMasters/notesMaster1.xml" Id="Rcbdc32ea9b124c6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32f37ef17e84cbe" /><Relationship Type="http://schemas.openxmlformats.org/officeDocument/2006/relationships/notesMaster" Target="/ppt/notesMasters/notesMaster1.xml" Id="Re36a8df678214f3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d37d78412bb43fb" /><Relationship Type="http://schemas.openxmlformats.org/officeDocument/2006/relationships/notesMaster" Target="/ppt/notesMasters/notesMaster1.xml" Id="R0e87c1fd178548c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0b64646346f4fb7" /><Relationship Type="http://schemas.openxmlformats.org/officeDocument/2006/relationships/notesMaster" Target="/ppt/notesMasters/notesMaster1.xml" Id="R5f9a0b23edd14c9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ea722d64da34652" /><Relationship Type="http://schemas.openxmlformats.org/officeDocument/2006/relationships/notesMaster" Target="/ppt/notesMasters/notesMaster1.xml" Id="Rca346a789974441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873146f11184fe7" /><Relationship Type="http://schemas.openxmlformats.org/officeDocument/2006/relationships/notesMaster" Target="/ppt/notesMasters/notesMaster1.xml" Id="R4672467a691946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0:00–0:02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Connect this session to the earlier workshop and set a concrete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Last time we examined how AI fits inside a controlled workflow. Today we will build that pattern without writing code.</a:t>
            </a:r>
          </a:p>
          <a:p xmlns:a="http://schemas.openxmlformats.org/drawingml/2006/main">
            <a:r>
              <a:t>• Our case is familiar across operations: a supplier misses an update, AI judges the risk and drafts a follow-up, but a person controls whether the message leaves the company.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Watch for:</a:t>
            </a:r>
          </a:p>
          <a:p xmlns:a="http://schemas.openxmlformats.org/drawingml/2006/main">
            <a:r>
              <a:t>• Keep the opening under two minutes. The finished demo comes immediately after the outcome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0:02–0:05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Give participants a visible finish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You will leave with one complete workflow rather than a tour of disconnected features.</a:t>
            </a:r>
          </a:p>
          <a:p xmlns:a="http://schemas.openxmlformats.org/drawingml/2006/main">
            <a:r>
              <a:t>• The assistant receives a supplier case, classifies delivery risk, drafts a factual message, asks for approval and sends only after approval.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Ask:</a:t>
            </a:r>
          </a:p>
          <a:p xmlns:a="http://schemas.openxmlformats.org/drawingml/2006/main">
            <a:r>
              <a:t>• Which step would you trust AI to do alone? Which step would you keep under human control?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0:05–0:10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Show the complete experience before explaining the pieces.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Watch who makes each decision. The model proposes the risk and wording. The reviewer authorizes the external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Open the published form and submit the Shree Ganesh Packaging example.</a:t>
            </a:r>
          </a:p>
          <a:p xmlns:a="http://schemas.openxmlformats.org/drawingml/2006/main">
            <a:r>
              <a:t>• Show the risk classification and draft on the response page.</a:t>
            </a:r>
          </a:p>
          <a:p xmlns:a="http://schemas.openxmlformats.org/drawingml/2006/main">
            <a:r>
              <a:t>• Open the Gmail approval request. Approve it.</a:t>
            </a:r>
          </a:p>
          <a:p xmlns:a="http://schemas.openxmlformats.org/drawingml/2006/main">
            <a:r>
              <a:t>• Show the supplier email arriving at your own test address, then open the Activepieces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Watch for:</a:t>
            </a:r>
          </a:p>
          <a:p xmlns:a="http://schemas.openxmlformats.org/drawingml/2006/main">
            <a:r>
              <a:t>• Use your own address as the supplier email. Never send the workshop test to a real supplier.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0:10–0:14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Ground the workflow in everyday operational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The buyer already has the facts. The work lies in noticing risk, writing a suitable message, finding the right approver and preserving a record.</a:t>
            </a:r>
          </a:p>
          <a:p xmlns:a="http://schemas.openxmlformats.org/drawingml/2006/main">
            <a:r>
              <a:t>• The same pattern appears in document collection, invoice follow-ups, internal dependencies and service delivery.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Ask:</a:t>
            </a:r>
          </a:p>
          <a:p xmlns:a="http://schemas.openxmlformats.org/drawingml/2006/main">
            <a:r>
              <a:t>• Where does supplier chasing currently live in your organization: email, spreadsheets, ERP notes or individual memory?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0:14–0:18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Separate probabilistic work from workflow guarantees.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AI is useful where language and context require judgment. It can classify risk and draft a suitable follow-up.</a:t>
            </a:r>
          </a:p>
          <a:p xmlns:a="http://schemas.openxmlformats.org/drawingml/2006/main">
            <a:r>
              <a:t>• The flow handles guarantees: required fields, permitted routes, a recorded approval and a send action that exists only on the approved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Ask:</a:t>
            </a:r>
          </a:p>
          <a:p xmlns:a="http://schemas.openxmlformats.org/drawingml/2006/main">
            <a:r>
              <a:t>• Would you let the same model that drafted the message approve its own draft? Why not?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0:18–0:22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Use the actual rehearsal failure to establish the need for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Our form said dispatch was promised. The first draft said dispatch was confirmed.</a:t>
            </a:r>
          </a:p>
          <a:p xmlns:a="http://schemas.openxmlformats.org/drawingml/2006/main">
            <a:r>
              <a:t>• The message sounded professional, but it quietly strengthened the evidence. Fluency does not prove factual accuracy.</a:t>
            </a:r>
          </a:p>
          <a:p xmlns:a="http://schemas.openxmlformats.org/drawingml/2006/main">
            <a:r>
              <a:t>• The prompt can reduce this error. Human review still catches what the prompt misses.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Show the earlier draft if convenient, then show the corrected instruction that preserves promised, expected, reported and confirmed.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0:22–0:27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Give non-coders a small vocabulary for reading the canvas.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A trigger starts the flow. Each piece performs one job. Data tokens carry output from one step into another.</a:t>
            </a:r>
          </a:p>
          <a:p xmlns:a="http://schemas.openxmlformats.org/drawingml/2006/main">
            <a:r>
              <a:t>• A branch chooses a permitted route. A paused approval step waits for a person. Runs preserve the evidence needed to troubleshoot.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Return to the canvas and point to the corresponding element as each term appears.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https://www.activepieces.com/docs/overview/welcome</a:t>
            </a:r>
          </a:p>
          <a:p xmlns:a="http://schemas.openxmlformats.org/drawingml/2006/main">
            <a:r>
              <a:t>https://www.activepieces.com/docs/flows/passing-data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0:27–0:30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Explain the build rhythm and the remaining hour.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At every checkpoint I will demonstrate one step, you will reproduce it, and we will test before moving on.</a:t>
            </a:r>
          </a:p>
          <a:p xmlns:a="http://schemas.openxmlformats.org/drawingml/2006/main">
            <a:r>
              <a:t>• If Gmail connection slows you down, pair with someone who has it working. The learning goal is the decision boundary, not OAuth troubleshooting.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0:30–0:37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Build and test the Human Input web form.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Ask for facts that a buyer can provide. Do not ask the form submitter to write the final message or decide the risk label.</a:t>
            </a:r>
          </a:p>
          <a:p xmlns:a="http://schemas.openxmlformats.org/drawingml/2006/main">
            <a:r>
              <a:t>• Use an unambiguous date format such as 10 September 2026. A date like 09/10/2026 changes meaning across locales.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Add Human Input and choose Web Form.</a:t>
            </a:r>
          </a:p>
          <a:p xmlns:a="http://schemas.openxmlformats.org/drawingml/2006/main">
            <a:r>
              <a:t>• Enable Wait for Response because the form will display the draft.</a:t>
            </a:r>
          </a:p>
          <a:p xmlns:a="http://schemas.openxmlformats.org/drawingml/2006/main">
            <a:r>
              <a:t>• Add the eight fields shown on the slide and submit one sample to test the trigger.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0:37–0:41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Teach data mapping before adding AI.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A mapped token carries the submitted value. Typed braces are only text unless the platform recognizes them as an expression.</a:t>
            </a:r>
          </a:p>
          <a:p xmlns:a="http://schemas.openxmlformats.org/drawingml/2006/main">
            <a:r>
              <a:t>• When the AI says every field is blank, inspect the mapping before changing the model or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Open the trigger sample data, click inside a downstream field and insert Supplier name from Data to Insert.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Ask:</a:t>
            </a:r>
          </a:p>
          <a:p xmlns:a="http://schemas.openxmlformats.org/drawingml/2006/main">
            <a:r>
              <a:t>• Ask one participant to explain where the value originated and where it will be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0:41–0:48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Add Classify Text and make the decision inspectable.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The classifier receives the case facts and must return one label. Those labels describe what the workflow may do next.</a:t>
            </a:r>
          </a:p>
          <a:p xmlns:a="http://schemas.openxmlformats.org/drawingml/2006/main">
            <a:r>
              <a:t>• Keep the categories short because the action checks for an exact match.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Add AI and choose Classify Text.</a:t>
            </a:r>
          </a:p>
          <a:p xmlns:a="http://schemas.openxmlformats.org/drawingml/2006/main">
            <a:r>
              <a:t>• Map the form fields into Text to Classify.</a:t>
            </a:r>
          </a:p>
          <a:p xmlns:a="http://schemas.openxmlformats.org/drawingml/2006/main">
            <a:r>
              <a:t>• Add the rubric above the case and set Categories to Routine, AtRisk and Critical.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https://github.com/activepieces/activepieces/blob/main/packages/pieces/community/ai/src/lib/actions/utility/classify-text.ts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0:48–0:52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Turn the real failed step into a reusable troubleshooting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The category list originally contained full descriptions. The model returned At Risk, but the action expected the entire sentence character for character.</a:t>
            </a:r>
          </a:p>
          <a:p xmlns:a="http://schemas.openxmlformats.org/drawingml/2006/main">
            <a:r>
              <a:t>• The fields were present and OAuth was healthy. The failure came from the action's exact-output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Show the failed run, then replace the verbose categories with the three short labels and retest.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Watch for:</a:t>
            </a:r>
          </a:p>
          <a:p xmlns:a="http://schemas.openxmlformats.org/drawingml/2006/main">
            <a:r>
              <a:t>• Remove trailing spaces and blank lines from labels.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0:52–0:59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Add Ask AI and create the exact text that the reviewer will approve.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Map the risk label into the prompt alongside the source facts. Tell the model how the label should affect tone and response time.</a:t>
            </a:r>
          </a:p>
          <a:p xmlns:a="http://schemas.openxmlformats.org/drawingml/2006/main">
            <a:r>
              <a:t>• Ask for only the email body. The same output will appear in approval and later become the send action's body.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Add Ask AI, map the form fields and Classify Text output, then test the step.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0:59–1:03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Repair the promised-versus-confirmed error and retest.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Prompt rules cannot guarantee truth, but they can name the distinctions the model must preserve.</a:t>
            </a:r>
          </a:p>
          <a:p xmlns:a="http://schemas.openxmlformats.org/drawingml/2006/main">
            <a:r>
              <a:t>• The strongest instruction here is to request clarification when evidence is unclear rather than completing the 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Add the factual rules, retest Ask AI and compare one sentence with the original form submission.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1:03–1:10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Add the form response and Gmail approval in the correct order.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Respond on UI returns the draft to the submitter immediately. The Gmail approval action then sends an internal review request and pauses the run.</a:t>
            </a:r>
          </a:p>
          <a:p xmlns:a="http://schemas.openxmlformats.org/drawingml/2006/main">
            <a:r>
              <a:t>• The approval recipient is the buyer or manager. The supplier receives nothing at this stage.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Add Human Input, Respond on UI, and map the Ask AI output.</a:t>
            </a:r>
          </a:p>
          <a:p xmlns:a="http://schemas.openxmlformats.org/drawingml/2006/main">
            <a:r>
              <a:t>• Add Gmail, Request Approval in Email, after Respond on UI.</a:t>
            </a:r>
          </a:p>
          <a:p xmlns:a="http://schemas.openxmlformats.org/drawingml/2006/main">
            <a:r>
              <a:t>• Send the approval to your own account and map the exact draft into the body.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https://www.activepieces.com/pieces/forms</a:t>
            </a:r>
          </a:p>
          <a:p xmlns:a="http://schemas.openxmlformats.org/drawingml/2006/main">
            <a:r>
              <a:t>https://www.activepieces.com/pieces/gmail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1:10–1:15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Make the pause visible and inspect the approval output.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The reviewer does not edit code or call an API. Their click supplies one explicit piece of state that the workflow can route 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Submit a fresh form response and show the run paused at Gmail.</a:t>
            </a:r>
          </a:p>
          <a:p xmlns:a="http://schemas.openxmlformats.org/drawingml/2006/main">
            <a:r>
              <a:t>• Open the approval email, click Review &amp; Respond, then choose Approve.</a:t>
            </a:r>
          </a:p>
          <a:p xmlns:a="http://schemas.openxmlformats.org/drawingml/2006/main">
            <a:r>
              <a:t>• Return to the run and reveal the output { approved: true }.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1:15–1:22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Add the approval router and supplier Gmail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The branch reads approved. The Approved path contains Gmail Send Email. The Otherwise path ends without sending.</a:t>
            </a:r>
          </a:p>
          <a:p xmlns:a="http://schemas.openxmlformats.org/drawingml/2006/main">
            <a:r>
              <a:t>• The receiver comes from Supplier email, the subject uses the PO and item, and the body uses the exact Ask AI output that the reviewer saw.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Add a Branch after Request Approval in Email.</a:t>
            </a:r>
          </a:p>
          <a:p xmlns:a="http://schemas.openxmlformats.org/drawingml/2006/main">
            <a:r>
              <a:t>• Set the Approved condition to Request Approval output, approved, Is true.</a:t>
            </a:r>
          </a:p>
          <a:p xmlns:a="http://schemas.openxmlformats.org/drawingml/2006/main">
            <a:r>
              <a:t>• Add Gmail Send Email inside Approved. Leave Disapproved empty.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Watch for:</a:t>
            </a:r>
          </a:p>
          <a:p xmlns:a="http://schemas.openxmlformats.org/drawingml/2006/main">
            <a:r>
              <a:t>• During testing, keep Supplier email mapped to an address you control.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1:22–1:27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Test behavior beyond the happy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Ask pairs to choose one case, predict the result, run it and inspect the relevant step rather than looking only at the final email.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or participant action:</a:t>
            </a:r>
          </a:p>
          <a:p xmlns:a="http://schemas.openxmlformats.org/drawingml/2006/main">
            <a:r>
              <a:t>• Demonstrate the first case if time allows. Participants test one additional case in pairs.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Ask:</a:t>
            </a:r>
          </a:p>
          <a:p xmlns:a="http://schemas.openxmlformats.org/drawingml/2006/main">
            <a:r>
              <a:t>• Which failure should stop the flow? Which failure can a reviewer safely correct?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1:27–1:29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Help participants transfer the design to their own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Change the form and the final action while preserving the pattern: capture facts, classify within fixed labels, draft from evidence, request authority and act on one permitted branch.</a:t>
            </a:r>
          </a:p>
          <a:p xmlns:a="http://schemas.openxmlformats.org/drawingml/2006/main">
            <a:r>
              <a:t>• A table can record the request, risk, decision and sent status when you want a simple operational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Ask:</a:t>
            </a:r>
          </a:p>
          <a:p xmlns:a="http://schemas.openxmlformats.org/drawingml/2006/main">
            <a:r>
              <a:t>• Name one repeated coordination task where this same approval boundary would help.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1:29–1:30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Purpose: Close with a compact design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• Start with repeated coordination work. Give AI a narrow judgment. Preserve the source facts. Put human authority before the external action. Test the path that should do nothing.</a:t>
            </a:r>
          </a:p>
          <a:p xmlns:a="http://schemas.openxmlformats.org/drawingml/2006/main">
            <a:r>
              <a:t>• The platform may change. This design habit should remain.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Ask:</a:t>
            </a:r>
          </a:p>
          <a:p xmlns:a="http://schemas.openxmlformats.org/drawingml/2006/main">
            <a:r>
              <a:t>• Before we close, what is one action your own assistant should never take without approval?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97993642294a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fc843fb95443b7" /><Relationship Type="http://schemas.openxmlformats.org/officeDocument/2006/relationships/slideLayout" Target="/ppt/slideLayouts/slideLayout1.xml" Id="R8acf1d2515c649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cf1d2515c649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3c0299e484d84" /><Relationship Type="http://schemas.openxmlformats.org/officeDocument/2006/relationships/notesSlide" Target="/ppt/notesSlides/notesSlide1.xml" Id="R45c346957f0b49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35f2ba41774382" /><Relationship Type="http://schemas.openxmlformats.org/officeDocument/2006/relationships/notesSlide" Target="/ppt/notesSlides/notesSlide2.xml" Id="R64c97346fcbc49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7f1d55c68b4d49" /><Relationship Type="http://schemas.openxmlformats.org/officeDocument/2006/relationships/notesSlide" Target="/ppt/notesSlides/notesSlide3.xml" Id="Raf18d4e0f9a6411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3f0dae30b4868" /><Relationship Type="http://schemas.openxmlformats.org/officeDocument/2006/relationships/notesSlide" Target="/ppt/notesSlides/notesSlide4.xml" Id="R24c5f8a7143d40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88a5f107f427a" /><Relationship Type="http://schemas.openxmlformats.org/officeDocument/2006/relationships/notesSlide" Target="/ppt/notesSlides/notesSlide5.xml" Id="R5428139131c94a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ea142d4124850" /><Relationship Type="http://schemas.openxmlformats.org/officeDocument/2006/relationships/notesSlide" Target="/ppt/notesSlides/notesSlide6.xml" Id="R32fae3032f0b44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25abeaece4311" /><Relationship Type="http://schemas.openxmlformats.org/officeDocument/2006/relationships/notesSlide" Target="/ppt/notesSlides/notesSlide7.xml" Id="Rdcb22d33a26345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98537ce1b4d49" /><Relationship Type="http://schemas.openxmlformats.org/officeDocument/2006/relationships/notesSlide" Target="/ppt/notesSlides/notesSlide8.xml" Id="R35454cf4715a47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d4b47eb564ac0" /><Relationship Type="http://schemas.openxmlformats.org/officeDocument/2006/relationships/notesSlide" Target="/ppt/notesSlides/notesSlide9.xml" Id="Rd111ecab0d9c41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1996aab104ebc" /><Relationship Type="http://schemas.openxmlformats.org/officeDocument/2006/relationships/notesSlide" Target="/ppt/notesSlides/notesSlide10.xml" Id="R7741a3e04cf24e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7cc1a49ba484b" /><Relationship Type="http://schemas.openxmlformats.org/officeDocument/2006/relationships/notesSlide" Target="/ppt/notesSlides/notesSlide11.xml" Id="R150004ed9ba04a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6185900cc49da" /><Relationship Type="http://schemas.openxmlformats.org/officeDocument/2006/relationships/notesSlide" Target="/ppt/notesSlides/notesSlide12.xml" Id="R8497aaadf3c4453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4bf8536eff4265" /><Relationship Type="http://schemas.openxmlformats.org/officeDocument/2006/relationships/notesSlide" Target="/ppt/notesSlides/notesSlide13.xml" Id="Rbb94644b856c41f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8b53209a64141" /><Relationship Type="http://schemas.openxmlformats.org/officeDocument/2006/relationships/notesSlide" Target="/ppt/notesSlides/notesSlide14.xml" Id="R368c2dd488114cb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c202fce154820" /><Relationship Type="http://schemas.openxmlformats.org/officeDocument/2006/relationships/notesSlide" Target="/ppt/notesSlides/notesSlide15.xml" Id="R68deebccfb834c0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63fd693684682" /><Relationship Type="http://schemas.openxmlformats.org/officeDocument/2006/relationships/notesSlide" Target="/ppt/notesSlides/notesSlide16.xml" Id="R0123e3cf42f74bd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28c9b373f4c55" /><Relationship Type="http://schemas.openxmlformats.org/officeDocument/2006/relationships/notesSlide" Target="/ppt/notesSlides/notesSlide17.xml" Id="R222128ca36ce49a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ebd238eb44580" /><Relationship Type="http://schemas.openxmlformats.org/officeDocument/2006/relationships/notesSlide" Target="/ppt/notesSlides/notesSlide18.xml" Id="R46865afbcf1f4e4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509a4d2e046b2" /><Relationship Type="http://schemas.openxmlformats.org/officeDocument/2006/relationships/notesSlide" Target="/ppt/notesSlides/notesSlide19.xml" Id="R8c205cf6760044f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04185000cd453f" /><Relationship Type="http://schemas.openxmlformats.org/officeDocument/2006/relationships/notesSlide" Target="/ppt/notesSlides/notesSlide20.xml" Id="R4a4e18ef3231462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9FA100-FB23-4326-994F-03092584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86C87-AB04-46AA-8E06-98420C0C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35E351-9218-47D4-8534-FEB7143E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FOLLOW-UP WORKSHOP · IIM MUMBAI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A8FAA9-84F4-427A-A7DB-741C56C5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75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Build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3912EA-63D5-4ABA-A920-81866ACC8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657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2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42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supplier risk 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D85C2-A400-4013-82E2-5DE037B5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2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42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follow-up assistant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C7CFE-CCBD-4C2E-9242-2A57F8A9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486150"/>
            <a:ext cx="347662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E315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8C155A-E674-4A9A-B383-2052A0CC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 90-minute no-code workshop with Activepieces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062820-616B-4A76-A7D2-2A0649D9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Abhiram · Software Architect · o9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9F72EC-ABE6-4C30-9E2E-D8B3EDA6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1504950"/>
            <a:ext cx="2095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DB8728-5531-4F09-9C43-40020463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28750"/>
            <a:ext cx="2095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3FA957-3D78-4916-A72E-74876BE2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1925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Supplier request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A32968-6F51-4A40-AF10-3D5F576C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962150"/>
            <a:ext cx="1638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form 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ACB7A3-061A-43A2-B626-3B7C17FB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933700"/>
            <a:ext cx="2095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7039C4-0323-4155-A4F5-2C8E426F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57500"/>
            <a:ext cx="2095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DD3068-07B1-4A1B-A571-79143DE6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480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AI proposes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F8207B-9E72-4E2A-B161-0A883991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90900"/>
            <a:ext cx="1638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risk and message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3E4D30-D383-4DCC-920C-08C8D00A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362450"/>
            <a:ext cx="2095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EEBCA-6D4E-4288-80BB-82C83265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86250"/>
            <a:ext cx="2095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D6C240-D684-4B19-820E-43E1311E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7675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Person decides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A8D690-6714-4C33-B3A5-8E5F9955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819650"/>
            <a:ext cx="1638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approve or stop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D81E22-1823-40D2-87D0-D52AEDB9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266950"/>
            <a:ext cx="95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3394E6-BCCD-4AE2-9940-732928E5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95700"/>
            <a:ext cx="952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629C52-0FE9-4736-BE38-670CF394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01 / 20</a:t>
            </a:r>
          </a:p>
        </p:txBody>
      </p:sp>
    </p:spTree>
    <p:extLst>
      <p:ext uri="{BB962C8B-B14F-4D97-AF65-F5344CB8AC3E}">
        <p14:creationId xmlns:p14="http://schemas.microsoft.com/office/powerpoint/2010/main" val="20426731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32B445-FE66-426C-9344-57AB938B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C9F4BA-DFA3-466D-A5AD-61C0AF66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659EB0-1346-4201-B885-892E2056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00 · OUTCOME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D3E489-3F61-40FE-AB04-4F643F0A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One working assistant in 90 minutes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23CC57-D68E-4E51-9BA9-E875EADD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14575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C29239-BF7D-40CB-A858-B6F63F26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E0D715-A926-431B-B2D8-ABEF5135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2887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Collect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8C88E4-A449-404B-9D01-5602A366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71775"/>
            <a:ext cx="1352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supplier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3870DD-1BEB-40C7-B8D9-77DFCD9A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314575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6DF715-DB01-4AFB-85AE-465C3482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38375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8DDF5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F82B32-99A4-4A7B-9370-49607779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2887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Classify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031167-768F-4B23-876F-0817EE32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771775"/>
            <a:ext cx="1352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delivery 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C77F5C-B973-4AB2-BF82-BF5734ED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14575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023793-C721-478A-87A3-958D2DC5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38375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143A43-61A4-4847-92F9-A237509E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2887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Draft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E78AE3-4FF3-425A-A427-0A66E13A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771775"/>
            <a:ext cx="1352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follow-up email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F53C42-0530-45F9-9906-584E3CFE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314575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BF8DA1-13D4-4A1E-B1A1-98C00BA7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38375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2D4E3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496B3D-5F2D-4509-B299-1DDC88B3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2887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DDD581-6BDE-4A6A-B312-464EF46A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71775"/>
            <a:ext cx="1352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human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BC5723-20AE-4B78-B753-CDB9ADA6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314575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183018-9238-4A5E-90DE-3BABD472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238375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4B9AC6-79AA-4BAD-9134-1414A155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42887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Send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72DBBA-E2B1-4289-824C-3DFCD8D2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71775"/>
            <a:ext cx="1352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approved text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1566E-197B-40F1-8BA6-747554B6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738438"/>
            <a:ext cx="180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B8D0F9-25CD-464E-9F59-BCE850F1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738438"/>
            <a:ext cx="857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CCA5CB-9021-4607-B3C9-6F3D3F10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0813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BF118C-3F9D-4246-ADBE-897E6995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38438"/>
            <a:ext cx="180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EACBF5-A25B-4339-8CDA-E241B634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738438"/>
            <a:ext cx="857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2AF0F3-5ADB-4F0F-8508-F312B545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690813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0E962E-BC38-451A-8714-093D3DA4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38438"/>
            <a:ext cx="180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3381AD-087C-4905-A6E1-C88E875C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738438"/>
            <a:ext cx="857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545B5A-3D81-4859-A160-5373134A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90813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01C920-F086-4C84-BD7A-D34F132D6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38438"/>
            <a:ext cx="180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98EC5C-6B62-4C06-A0E5-5649CA8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38438"/>
            <a:ext cx="857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72BDCE-E489-4535-93EF-B7A65646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690813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C87745-EE39-4A44-873E-8E04E2A5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048125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The approved text is the text that gets sent.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839839-6EEE-4517-90D3-717A978E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14875"/>
            <a:ext cx="828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Participants build the flow in five short checkpoints and test both outcomes.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89F7AE2-609A-441A-BA96-072C9836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02 / 20</a:t>
            </a:r>
          </a:p>
        </p:txBody>
      </p:sp>
    </p:spTree>
    <p:extLst>
      <p:ext uri="{BB962C8B-B14F-4D97-AF65-F5344CB8AC3E}">
        <p14:creationId xmlns:p14="http://schemas.microsoft.com/office/powerpoint/2010/main" val="9996794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7AE48DB-5CDA-4EEC-847D-14F9AE3A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BFA9CB-30E7-4ED8-8DA5-0CDEB360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50B89-FBD8-4AC8-9796-765B1C3E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DEMO 01 · FINISHED 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92DEF-5A69-421F-9ECF-B468E2C0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 supplier update becomes a controlled action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C85900-5E63-4B17-87BE-7E5EC683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1932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7BB40-D4E8-4BA2-9525-B0F5AF48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776742-8364-4EFF-A0A2-F54665EA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336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Web form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841538-1166-4CDF-AEEC-8152C896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765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case arrives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BF5224-7118-4E66-A888-0BE8B475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21932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549A29-BAC7-44F6-AF14-EB0E18CA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DDF5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452003-8E14-4E8A-BBEF-1CD8CBA2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336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Risk label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56D7A1-202D-47C3-B048-3CE80035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765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3561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Routine / AtRisk / Critical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57082-5A92-49A6-BEE2-AA03C091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21932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EDA398-82FE-41D2-92C0-9BC3F485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4312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A69782-A0AE-431B-AB96-D4D63AC1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3336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Email draft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0BBA92-3464-40D3-82B8-68133130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6765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plain 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836730-00E7-48C2-9818-0A99BFB5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21932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55B5DC-721A-4723-8969-221C545D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4312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2D4E3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A8CAEC-F5A2-48FB-889B-0972C8B1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336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65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Gmail approval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D61F7F-A8BB-4833-B7A0-9D95B535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765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pause and decide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97375B-0FA3-41DF-8C23-4D08EA4F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21932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4154BF-E9FE-41C2-BEF1-DE8BC3C3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14312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C6A4FE-2D0B-4577-9B73-592C5ABC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3336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8734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Supplier email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434F46-F497-444C-93FB-927446B6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765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send after approval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C9EB6A-7B91-4EDF-AADA-693F3A54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19375"/>
            <a:ext cx="2000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71BF84-F067-4809-97E5-CF3CC939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619375"/>
            <a:ext cx="104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A3972C-C470-474E-8E48-AE008663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571750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DB291B-657A-47AA-B591-712A10AD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19375"/>
            <a:ext cx="2000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B797F4-08CE-48F5-BF79-B64AB1B3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619375"/>
            <a:ext cx="104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2E4F26-1E0F-45A2-BE51-60D7513A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71750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F43D05-56B7-4457-BAE7-60B2F5E6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19375"/>
            <a:ext cx="2000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8628C4-B84E-48B1-9267-1609DCBE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2619375"/>
            <a:ext cx="104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697060-B8D6-4C42-827E-A77B0864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71750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6D46A1-FE63-4716-9380-3C73AC83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619375"/>
            <a:ext cx="2000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561CCF-C907-4A27-84EE-916FD6F9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619375"/>
            <a:ext cx="104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D99F68-100B-4A49-A595-6FB32F47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71750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9575DB-38F2-4C5C-944D-73F7410A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14500"/>
            <a:ext cx="9525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E315E"/>
            </a:solidFill>
            <a:prstDash val="dash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CA4D09-41C9-4EBD-A8C2-7C2DA44A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5762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72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AI may propose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64454A-CA15-4EAE-A98E-4C54B0DD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576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72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A person authorizes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BA0BBC-8F0E-4FC2-8753-65FB33E6A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781675"/>
            <a:ext cx="4476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C4FDAF-BBBF-46F1-AD62-BEDCD428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857875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9054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494840"/>
                </a:solidFill>
                <a:latin typeface="Courier New"/>
                <a:ea typeface="Courier New"/>
                <a:cs typeface="Courier New"/>
              </a:defRPr>
            </a:pPr>
            <a:r>
              <a:rPr sz="900" b="0" i="0">
                <a:solidFill>
                  <a:srgbClr val="494840"/>
                </a:solidFill>
                <a:latin typeface="Courier New"/>
                <a:ea typeface="Courier New"/>
                <a:cs typeface="Courier New"/>
              </a:rPr>
              <a:t>Demo first. Explain the mechanics after participants see the outcome.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AADF39-CFAE-450A-B3C1-E511C5D3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03 / 20</a:t>
            </a:r>
          </a:p>
        </p:txBody>
      </p:sp>
    </p:spTree>
    <p:extLst>
      <p:ext uri="{BB962C8B-B14F-4D97-AF65-F5344CB8AC3E}">
        <p14:creationId xmlns:p14="http://schemas.microsoft.com/office/powerpoint/2010/main" val="19458138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44CE1C-B2E0-463A-A144-0D38D4CC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EFD78-82A2-49EA-8E75-30A89B5C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D0139D-0CA5-43CE-B63F-164872E5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01 · THE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AC82C-DFDF-4AD0-A494-31067A29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Supplier chasing is a coordination 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8282A0-4443-4BEC-BD8E-E2D0C5DB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28825"/>
            <a:ext cx="423862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15807D-C271-440D-A759-CA223259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423862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C13956-CB84-42D6-A706-5DCF6F8B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7814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PO-2026-1042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67FF5D-D6A2-43C5-A1E0-120DEF1B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66975"/>
            <a:ext cx="3781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Incoming case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6A16AC-A0AA-4B8D-88DB-BF33DECB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24175"/>
            <a:ext cx="3781425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Shree Ganesh Packaging promised dispatch two days ago. No confirmation or tracking details arrived. The cartons support next week’s festive-season dispatch.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A2055B-FEA6-4246-B368-60DF28FA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07645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288AD2-7B27-4CCE-B305-703662380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B31F60-2168-40E6-A215-680B36D4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9075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Facts exist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A5C561-589E-4D50-A8A8-6C2C8BAE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33650"/>
            <a:ext cx="1638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4775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PO, item, date, latest update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C95E8B-5A6A-4091-96E8-9ED8AB98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7645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D4D4BA-0531-4E5A-9F79-F93AF40F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FEE33C-B51A-4364-BA4C-C39B2CC8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9075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Judgment varies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039897-47C5-46D3-ACC9-5E1B31D1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33650"/>
            <a:ext cx="1638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routine, at risk or critical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63F206-DA32-40F6-9404-B211ECFE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79095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4C883D-E353-43E8-BD8B-924B4FF3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1475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2D4E3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872797-AA0F-4B16-9E64-2884DD30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90525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Action matters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2420CD-2D66-4FD4-8D8D-DE88BEAD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248150"/>
            <a:ext cx="1638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754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an external message leaves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77053B-5B01-45C9-83B8-D5D22B0F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79095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CEFEFA-81EA-479A-8C7F-398F3BA0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1475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F55C4D-96CF-40C6-85B4-352604AD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0525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History matters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F62069-41DD-4CB8-8D00-2CEE283D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248150"/>
            <a:ext cx="1638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0782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who approved and what was sent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F689EA-0705-4E9B-BA3A-0A6EB07A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381250"/>
            <a:ext cx="19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CD0434-62EE-4156-A494-F15983CA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95750"/>
            <a:ext cx="19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717B03-DF77-4B3B-B4C8-0A83CFAF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04 / 20</a:t>
            </a:r>
          </a:p>
        </p:txBody>
      </p:sp>
    </p:spTree>
    <p:extLst>
      <p:ext uri="{BB962C8B-B14F-4D97-AF65-F5344CB8AC3E}">
        <p14:creationId xmlns:p14="http://schemas.microsoft.com/office/powerpoint/2010/main" val="406181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333ABA-F77B-45BE-BF72-7DB4F3F5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20A7AD-6CE5-40BF-B850-613847C1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81BE44-9605-4C25-BB12-456B03C7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01 · THE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9322A-792C-4D94-A46C-6864B70A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Where AI helps and where rules take over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FEB58A-D3AF-4837-83F3-5AE99AF2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85737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AI proposes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90490-4169-40B9-9168-1DBF55A8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5737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The workflow guarantees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DD768C-D7D9-4601-A073-29A23709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552700"/>
            <a:ext cx="41910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38EC4-EEEA-4618-9A6B-71413949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41910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0DEFB-2297-4EDA-A5AF-82DB33B5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73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Interpret the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3F39CB-CE56-4DF4-9666-0421D8C3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24200"/>
            <a:ext cx="3733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Choose a risk label. Adjust tone. Draft a message from the supplied facts.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F77A9-006A-4DDB-91A7-8270E8A8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52700"/>
            <a:ext cx="41910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F7D238-EA4F-42D6-AFAA-A5F305F1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476500"/>
            <a:ext cx="41910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D73D0E-77DC-4F6C-B6B3-A10E54D5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667000"/>
            <a:ext cx="373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Control the 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3FA6D4-4CE7-4278-AD12-3DFFA77C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124200"/>
            <a:ext cx="3733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Pause for a person. Route on a Boolean decision. Send only through the approved branch.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D44C4B-E883-46E7-966C-AEB98B70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9525" cy="304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E315E"/>
            </a:solidFill>
            <a:prstDash val="dash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E4FF7-3560-46A9-9CFF-660DD802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09587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650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uncertainty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5852D9-CED3-4502-8F98-B690CC89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05 / 20</a:t>
            </a:r>
          </a:p>
        </p:txBody>
      </p:sp>
    </p:spTree>
    <p:extLst>
      <p:ext uri="{BB962C8B-B14F-4D97-AF65-F5344CB8AC3E}">
        <p14:creationId xmlns:p14="http://schemas.microsoft.com/office/powerpoint/2010/main" val="9995959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492E1A-10D3-43B2-9DC6-59E3E0A0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106221-BCF3-4F75-8E0E-D7B531D2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513024-95E4-458A-AF0B-58DD1612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DEMO 02 · FAILURE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73D44-B8AA-4535-88FA-B09E7F7F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One polished sentence can change a business 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4F7DF-079E-4C16-95B3-97097D806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71700"/>
            <a:ext cx="428625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E7E2B7-1991-437C-99FB-B76DC094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428625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8BDEA3-C7EB-47AD-B321-773FDCA9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266950"/>
            <a:ext cx="3829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FORM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A1BE05-3EB3-4D66-9187-6EE18000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609850"/>
            <a:ext cx="3829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Source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FAA9D5-E1D0-4DEE-ADB9-7F21EC85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067050"/>
            <a:ext cx="3829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9802"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“Dispatch was promised two days ago.”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AAA09E-C46B-464F-89FF-DAF74604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71700"/>
            <a:ext cx="428625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C24507-1119-4A7B-AA84-3B2C1824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095500"/>
            <a:ext cx="428625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AA8A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048588-D8EA-4F7D-897F-98017ECD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266950"/>
            <a:ext cx="3829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AI 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23F56-6E04-446F-B0FF-5734C528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609850"/>
            <a:ext cx="3829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Draft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96B404-BBF7-47E8-B8E4-346B2B09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067050"/>
            <a:ext cx="3829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8610"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“Dispatch was confirmed two days ago.”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D85A0D-A027-43CA-A7A0-F33241CD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76500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750" b="1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3750" b="1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BACBDD-13B3-490D-BDC6-A627C5CB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333875"/>
            <a:ext cx="771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Promised and confirmed carry different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CAE1C-C21F-4E4F-AA5E-D98C246A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781675"/>
            <a:ext cx="4476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6D1D2A-CBBF-4283-B4CF-5D5A0BFE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857875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062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494840"/>
                </a:solidFill>
                <a:latin typeface="Courier New"/>
                <a:ea typeface="Courier New"/>
                <a:cs typeface="Courier New"/>
              </a:defRPr>
            </a:pPr>
            <a:r>
              <a:rPr sz="900" b="0" i="0">
                <a:solidFill>
                  <a:srgbClr val="494840"/>
                </a:solidFill>
                <a:latin typeface="Courier New"/>
                <a:ea typeface="Courier New"/>
                <a:cs typeface="Courier New"/>
              </a:rPr>
              <a:t>Factual review matters even when grammar and tone look perfect.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705E18-518F-4FB0-B159-BD718792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06 / 20</a:t>
            </a:r>
          </a:p>
        </p:txBody>
      </p:sp>
    </p:spTree>
    <p:extLst>
      <p:ext uri="{BB962C8B-B14F-4D97-AF65-F5344CB8AC3E}">
        <p14:creationId xmlns:p14="http://schemas.microsoft.com/office/powerpoint/2010/main" val="19854383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F97B0A-7C3F-4665-B58F-743FB46A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B9E726-84CC-4723-906E-E2E28E1C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F39A3-ACD1-436B-A9D9-D7415548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02 · ACTIVEPIECES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EF6E37-8AA8-46EC-BE42-FA1E3A2C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The Activepieces mental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FCFAE7-3395-4927-9C2F-769BA949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219325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FAF39C-38B5-4675-AAC8-B01E55200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43125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6E8760-57C4-41BB-B79E-24B5EE47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336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Trigger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7402BD-CB6D-4DB5-9975-2496E62B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starts the flow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AE657-6F6E-45AE-8166-AF352CF1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219325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FE3474-3AAF-445B-B37C-734819BB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1F4EC-972F-4BA3-AEA5-7440D55C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336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Piece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04494-50A6-4E74-8B3A-09297F7F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765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performs one job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A80B22-3A4E-4A06-802D-E40A3687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2219325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AA1E55-E630-428D-9EE8-4DFF8295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143125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DDF5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BB9742-FE0C-4BF8-A44F-9288444F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336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Data token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1923F-BA7C-4FD3-A80F-79C2C1FA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765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carries prior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FB438F-729C-4C18-9D38-2E2A7794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219325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48271A-E3B6-4C7A-90FB-7496BEB8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143125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2D4E3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2C3519-3135-4F33-9F4E-AB9C65C5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3336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Branch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E5ECBC-DE3B-4BBB-8929-32609CF2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765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selects a route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EFB808-E302-4445-ACAF-01897C89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219325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CDD2DB-85E6-479B-85F7-16A2CE00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143125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21378F-C122-4EB6-AD2D-F13631DE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3336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Run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505B91-0630-42CD-B4F1-050C5693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765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775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records what happened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581F65-BDB0-476A-93E1-1D98E542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619375"/>
            <a:ext cx="1714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2F4CB0-789A-4D0B-9066-0BB70348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19375"/>
            <a:ext cx="76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0A7680-54F1-4656-9F3E-052F7929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571750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10975E-374A-4169-A334-FE2CAF93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19375"/>
            <a:ext cx="1714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FE52EA-CBD8-4D43-B4D8-AC420516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619375"/>
            <a:ext cx="76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C0BFB9-6218-47DC-B9C1-D663A885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571750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43A643-9FBB-49DB-AA53-0CB59D3E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19375"/>
            <a:ext cx="1714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5FFDDF-4D03-4AF6-97AC-74F0401F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19375"/>
            <a:ext cx="76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9073DC-22EA-421E-8138-EB4B90B1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571750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F7F5BC-8FB0-4EF4-BBC3-9D5E86A9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619375"/>
            <a:ext cx="1714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657781-7532-4A4E-AACB-EA7C52F8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19375"/>
            <a:ext cx="76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0A66C4-7E40-476A-ABFE-38D7773C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571750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9BF3EE-8429-42DF-B2CF-B15C9B974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171950"/>
            <a:ext cx="7048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BA2941-0AC5-4145-8358-DFCA39F6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95750"/>
            <a:ext cx="7048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878ED6-CDBD-4588-B8AE-0D8922A2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86250"/>
            <a:ext cx="6591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Read the canvas from top to bottom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19A626-46FA-4D08-A123-26EBEA41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43450"/>
            <a:ext cx="6591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568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At every step ask: what data arrived, what decision happened and what action became possible?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36C716-C479-4623-B33D-AA7F732C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07 / 20</a:t>
            </a:r>
          </a:p>
        </p:txBody>
      </p:sp>
    </p:spTree>
    <p:extLst>
      <p:ext uri="{BB962C8B-B14F-4D97-AF65-F5344CB8AC3E}">
        <p14:creationId xmlns:p14="http://schemas.microsoft.com/office/powerpoint/2010/main" val="4259880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5E8E7F-EBE2-41CD-9BA8-1960F1CB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E7A5E1-677A-48B1-BE72-FE5AB582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3FAFD1-F66A-4105-A9B8-B9E8DFB0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02 · BUILD 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5C3E4-3B0A-45CF-A8D6-9B68620C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Five checkpoints keep the build moving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CCA38-2329-4A78-8969-005D2923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19325"/>
            <a:ext cx="1905000" cy="2095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0A383-1EC8-43AA-AF7D-88FDC56C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905000" cy="2095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869453-C47A-44E6-A3EE-43421EDA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1457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F25DCC-C1FF-4233-B134-B6A73536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57475"/>
            <a:ext cx="144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Form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0250B1-BCBE-4DA0-A8F8-452D9CA1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14675"/>
            <a:ext cx="1447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capture the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CC506A-33C0-413D-A624-0BD112F6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19325"/>
            <a:ext cx="1905000" cy="2095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FC9CDB-A74C-4E29-96E8-AA47320C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43125"/>
            <a:ext cx="1905000" cy="2095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8DDF5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F06EF0-E285-4A2B-B032-6AF035DB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1457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19880A-4069-4677-B84D-02D13C5D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57475"/>
            <a:ext cx="144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Classify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69FC81-2934-4107-BBFA-ACEFBEA9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14675"/>
            <a:ext cx="1447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label risk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3F9338-9CBB-40FF-A730-875C4A87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219325"/>
            <a:ext cx="1905000" cy="2095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B0ACEF-DD05-4D7A-9069-68A59BFB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143125"/>
            <a:ext cx="1905000" cy="2095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B57DE6-9AED-4DDA-B740-31D68B3B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1457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7B280-EA52-4BC7-9B69-3BCA38C8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57475"/>
            <a:ext cx="144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Draft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82B669-CE58-45E0-B977-0800996B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14675"/>
            <a:ext cx="1447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write from facts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00F1E6-70FF-4EA4-91A3-50B87A52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219325"/>
            <a:ext cx="1905000" cy="2095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462B4A-CD31-45A1-B681-1E1B7D86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43125"/>
            <a:ext cx="1905000" cy="2095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2D4E3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657CB3-9002-4030-B3A8-218B0893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31457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5F6F2B-987B-4228-9305-74C609B2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57475"/>
            <a:ext cx="144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Approve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EA98BC-E137-448B-9376-5776F48E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114675"/>
            <a:ext cx="1447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pause for a person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B10010-A8A2-4B00-8D6B-ECF6111D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219325"/>
            <a:ext cx="1905000" cy="2095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CC7923-76A1-4F50-9238-D691E170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143125"/>
            <a:ext cx="1905000" cy="2095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39D127-DA3F-4E5D-90CF-2D0921E0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31457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4038C3-F91D-4AB9-9421-C9530EDB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657475"/>
            <a:ext cx="144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Route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4C696B-0BCE-4768-8AF9-F0B20EB2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114675"/>
            <a:ext cx="1447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send or stop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D34DA5-8F86-4CE1-AAC4-DA389F85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81012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202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Test after every checkpoint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510A5A-FE11-4301-81EE-FE09D919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08 / 20</a:t>
            </a:r>
          </a:p>
        </p:txBody>
      </p:sp>
    </p:spTree>
    <p:extLst>
      <p:ext uri="{BB962C8B-B14F-4D97-AF65-F5344CB8AC3E}">
        <p14:creationId xmlns:p14="http://schemas.microsoft.com/office/powerpoint/2010/main" val="16793385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8080BB-5D42-4011-B519-07E4368F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14D6BE-6586-471D-97D6-D866DA37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22E986-749C-4203-8139-6AEEA8B7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BUILD 01 · 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5E46D3-959B-44AD-B775-8FC218A6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The form supplies evidence, not conclusions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D0CDF0-83D8-4902-ADEA-2EAC8834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33575"/>
            <a:ext cx="4857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FA034-6750-4D19-A977-E4115C2C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57375"/>
            <a:ext cx="4857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0547A-5E97-4E02-872D-86C66D1E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028825"/>
            <a:ext cx="440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REQUIRED 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F8B01-5EEB-45AB-ABB9-FDB06C5A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371725"/>
            <a:ext cx="440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Order facts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92B5B8-14F6-4670-A99E-EC6ECE42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33575"/>
            <a:ext cx="4857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C1E765-5D79-46BB-B6DF-D6B95396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857375"/>
            <a:ext cx="4857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23C447-7D08-423A-AFDF-4EE83ADA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028825"/>
            <a:ext cx="440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0391CA-C846-4EEA-9C37-F9164F38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371725"/>
            <a:ext cx="440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Situation facts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0BAF63-9291-4B87-BF48-6A95FA64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90875"/>
            <a:ext cx="400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EB8C93-3755-4B41-BCBB-99C67CAD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05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Supplier name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A4BF2D-4ED3-4560-83C2-519F0FE8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05225"/>
            <a:ext cx="400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0D3CE5-8AF8-4FE0-9493-5C5193E7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194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Supplier email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BCD01B-BB61-49FB-8C55-EB4A8A11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9575"/>
            <a:ext cx="400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542936-37C1-4949-AE7C-CBC3583F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33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PO or order number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509B35-7168-4E5A-A9FE-F22112B8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33925"/>
            <a:ext cx="400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77CD9B-4E1F-4297-A1A8-7933FB07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481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Item or service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193D8D-57B2-48B4-A619-A52AF1B2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90875"/>
            <a:ext cx="400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42277A-FE41-4FAF-BA8F-D6ED803B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05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Expected delivery date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5BFDD1-93E3-4A55-9DF4-6CF2C113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05225"/>
            <a:ext cx="400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BF0724-0007-410B-828A-95AE9C9F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194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Latest supplier update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6BFE90-CCC3-4CF1-9866-94E6FAE3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19575"/>
            <a:ext cx="400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49F275-FD58-40AB-BD99-7347B24E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33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Business impact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D7498B-D23F-4E59-9EF6-9FA6FDB9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33925"/>
            <a:ext cx="400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0EBFEF-7249-46B0-A82F-AF92BE1C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481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Additional context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9B4252-4B5B-439B-A260-82A1280B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09 / 20</a:t>
            </a:r>
          </a:p>
        </p:txBody>
      </p:sp>
    </p:spTree>
    <p:extLst>
      <p:ext uri="{BB962C8B-B14F-4D97-AF65-F5344CB8AC3E}">
        <p14:creationId xmlns:p14="http://schemas.microsoft.com/office/powerpoint/2010/main" val="12544687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D9D210-9782-4D12-B779-74AAEC7D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C09419-320C-4062-924B-08BC48A7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E7B342-0A0B-49BF-977E-D12A8797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CHECKPOINT 01 ·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51705-60CA-4130-9232-E86F44F0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Mapped values should look like tokens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B44700-B7B3-4A84-8C88-AE8CCCC0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24075"/>
            <a:ext cx="4524375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A89725-308A-4511-9598-18DBA557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47875"/>
            <a:ext cx="4524375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BD54F-5257-4522-B1BD-FA69C9E2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219325"/>
            <a:ext cx="4067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PLAIN 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11307C-AC71-4796-A75D-18234F4A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562225"/>
            <a:ext cx="4067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Typed placeholder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CBFD5-2F80-4F47-B664-0877F906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019425"/>
            <a:ext cx="406717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Supplier: {{supplierName}}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EF236-3206-4A85-9FBE-E43061E8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124075"/>
            <a:ext cx="4524375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E03619-D951-4DD5-B7E4-E381D0A4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47875"/>
            <a:ext cx="4524375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719AEF-8C61-4FAF-A1D7-F7AB4284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19325"/>
            <a:ext cx="4067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DATA TO INSERT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3522A2-C544-4D40-A9DD-80280642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62225"/>
            <a:ext cx="4067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Mapped token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D06ACF-C4D4-45ED-91B0-696765F9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19425"/>
            <a:ext cx="406717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Supplier:  1. Supplier Follow-up Request · supplierName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97A000-44CF-4517-BAA8-F680F14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71462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3450" b="1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E13E51-AC94-49C9-B4DD-8F400302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10125"/>
            <a:ext cx="790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Test the trigger once so later steps have real sample data.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B7D816-0DB8-4C1F-B3FE-E6398397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10 / 20</a:t>
            </a:r>
          </a:p>
        </p:txBody>
      </p:sp>
    </p:spTree>
    <p:extLst>
      <p:ext uri="{BB962C8B-B14F-4D97-AF65-F5344CB8AC3E}">
        <p14:creationId xmlns:p14="http://schemas.microsoft.com/office/powerpoint/2010/main" val="7553771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931D54-D510-4012-969F-E346CEC0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E1E0E2-45F2-4BCD-9D4A-5C18D399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2ED90-3D71-4F6C-9504-E6E04C77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BUILD 02 · 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6A8E2D-23AA-4CA8-A366-F0CE91ED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The classifier chooses one permitted label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FC043-E9DF-4453-9050-9F467EBD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028825"/>
            <a:ext cx="452437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258C49-573A-4173-9EFB-E6AD779F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452437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F96050-2D68-4CD8-AC67-39092C41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24075"/>
            <a:ext cx="4067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7C73CA-34A3-4BED-BB54-E8971233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66975"/>
            <a:ext cx="4067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Text to Classify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BDD0E-F095-43B7-BDAF-925D17C8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24175"/>
            <a:ext cx="4067175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Guidance first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Routine = normal check</a:t>
            </a:r>
          </a:p>
          <a:p xmlns:a="http://schemas.openxmlformats.org/drawingml/2006/main">
            <a:pPr algn="l">
              <a:defRPr sz="14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AtRisk = delay or missing confirmation</a:t>
            </a:r>
          </a:p>
          <a:p xmlns:a="http://schemas.openxmlformats.org/drawingml/2006/main">
            <a:pPr algn="l">
              <a:defRPr sz="14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Critical = serious operational impact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Case facts follow below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6FFC4D-DA78-43B7-BC76-DD955128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28825"/>
            <a:ext cx="452437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890EF5-7C7D-432B-836E-8021FADC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952625"/>
            <a:ext cx="452437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8DDF5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3EAF38-DE20-4C37-9EA7-720D07D3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124075"/>
            <a:ext cx="4067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EXACT LABELS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E845BF-762B-44E2-9694-DFE2F16A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466975"/>
            <a:ext cx="4067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Categories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0DD2EC-A061-4AB2-9F06-7334BAFC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924175"/>
            <a:ext cx="4067175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Routine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AtRisk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Critical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12D822-BF58-468F-B5C3-1703BD0F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095625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650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one result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A1A7EF-ABA2-47B5-BAC9-7C52063C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11 / 20</a:t>
            </a:r>
          </a:p>
        </p:txBody>
      </p:sp>
    </p:spTree>
    <p:extLst>
      <p:ext uri="{BB962C8B-B14F-4D97-AF65-F5344CB8AC3E}">
        <p14:creationId xmlns:p14="http://schemas.microsoft.com/office/powerpoint/2010/main" val="3916917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0EE90D-7E4D-43CB-891F-8AD714C4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4409AB-BC19-4173-B784-1FA8DB36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2828E-3CA1-46DC-B779-506D14EE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DEMO 03 · TROUBLESHOOT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88062-6307-4A69-9ED8-7EFCF92A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Why the first classification failed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E47649-1C67-412E-8AD2-B6D17640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76450"/>
            <a:ext cx="47625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D810F3-D561-46F4-8B2A-D96E9903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47625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AA8A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98EA97-BA52-4AD1-B570-22BB0718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430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FAILED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9A81A2-DA35-4855-B24F-66670335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430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Too much inside the label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3F5D81-9980-408D-B451-EC765856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71800"/>
            <a:ext cx="43053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At Risk: Delivery is delayed or tracking/confirmation is missing.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34BEBF-814E-444A-BE5B-BBFF2337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076450"/>
            <a:ext cx="47625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D37EDB-5A33-4785-9B6B-23455282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00250"/>
            <a:ext cx="47625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2CDE16-3BC4-4B2A-8D42-EC4F31F4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171700"/>
            <a:ext cx="430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WORKS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CD1AFB-F09A-4E5E-825B-F94F8F08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14600"/>
            <a:ext cx="430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Short exact label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05E72E-C989-4EBB-B7C7-FE3306CB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71800"/>
            <a:ext cx="43053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AtRisk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A5B7D4-267B-49D7-A12A-2B18BA22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6193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3300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264828-933C-4E67-A4CA-9F7C9E96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847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Put the meaning in the guidance. Keep the label stable for routing.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58E223-2425-491D-B6EE-38533A63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12 / 20</a:t>
            </a:r>
          </a:p>
        </p:txBody>
      </p:sp>
    </p:spTree>
    <p:extLst>
      <p:ext uri="{BB962C8B-B14F-4D97-AF65-F5344CB8AC3E}">
        <p14:creationId xmlns:p14="http://schemas.microsoft.com/office/powerpoint/2010/main" val="8074171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96E8F0-BF62-4AD5-A086-1DC8FC77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F7047-B20B-44F0-8B2E-2371E64D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ACCAE6-6FDC-4108-92DA-017B6D68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BUILD 03 ·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A45F0-B13D-4572-81BF-9D942C06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The prompt turns facts and risk into sendable 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AB179C-52C8-4FB7-9513-3FC12260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1932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7468CF-51BD-43A0-A4FB-33E565E0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4A22FA-AFC6-46A3-818F-DD4F746A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14575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454ED-AB5B-4E5C-9ABF-201BF7F7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57475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Facts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33F494-F9D2-4663-BB6A-B6374B95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14675"/>
            <a:ext cx="2019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supplier, PO, item, date and update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E28E9F-40F9-4EF0-93F1-3280BC60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1932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547FEC-6759-461B-8260-39129E09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14312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8DDF5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0067AE-6EF8-450D-A347-D26A5DBF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314575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FF3974-67F8-48F2-A42D-39B56661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657475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7391C-42FC-4127-8953-84E0454D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114675"/>
            <a:ext cx="2019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Routine, AtRisk or Critical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79D4E9-C810-43EF-BA9C-7DA01581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669BAA-7841-4CF1-84C8-E59E24CB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4312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3A3614-F97A-4BD8-A4B8-77108D12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14575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92AB37-4E66-45BE-89FE-77B94665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57475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Rules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A4538C-1698-449B-BB70-65833656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14675"/>
            <a:ext cx="2019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preserve facts and avoid invention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67EF8D-F48F-4BF5-AE67-175EA58C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1932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4B76F1-BF6A-4EA5-9231-442BE92B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14312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667ABF-1674-4A9C-A883-D75CC24F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314575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FF45EE-B208-4008-97DE-ADEF2C06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657475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A56D0E-BE6E-4A2E-92E7-4B750140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114675"/>
            <a:ext cx="2019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plain email body only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BABE82-F320-468C-A282-61375E4E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781675"/>
            <a:ext cx="4476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9102EA-0B31-4F05-9057-FE26C236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857875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04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494840"/>
                </a:solidFill>
                <a:latin typeface="Courier New"/>
                <a:ea typeface="Courier New"/>
                <a:cs typeface="Courier New"/>
              </a:defRPr>
            </a:pPr>
            <a:r>
              <a:rPr sz="900" b="0" i="0">
                <a:solidFill>
                  <a:srgbClr val="494840"/>
                </a:solidFill>
                <a:latin typeface="Courier New"/>
                <a:ea typeface="Courier New"/>
                <a:cs typeface="Courier New"/>
              </a:rPr>
              <a:t>The reviewer approves the exact text that the send step will use.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F251D9-843E-49F2-8D8E-AE1C64C7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13 / 20</a:t>
            </a:r>
          </a:p>
        </p:txBody>
      </p:sp>
    </p:spTree>
    <p:extLst>
      <p:ext uri="{BB962C8B-B14F-4D97-AF65-F5344CB8AC3E}">
        <p14:creationId xmlns:p14="http://schemas.microsoft.com/office/powerpoint/2010/main" val="9549729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9A42F-6C22-415F-A73F-B0E3F776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E9990-1543-49B4-9912-070CAE9A7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C37A4-C0E0-4F7B-BFAA-55B24D2A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CHECKPOINT 03 ·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48876B-C8ED-449D-8487-7BED93A9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Factual rules belong inside the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2ABD9A-6452-473C-9EAD-66604DF1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885950"/>
            <a:ext cx="10096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4881CE-ADB6-485D-922F-BA22F014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10096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0605B0-CCB6-44F7-A968-1531E289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963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PROMPT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FF5885-2615-4AA5-BC32-AA3D37FB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24100"/>
            <a:ext cx="963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Factual accuracy rules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98277F-6661-4FFB-B231-A9A55A83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81300"/>
            <a:ext cx="9639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Use only facts explicitly present in the form.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Preserve distinctions such as promised, expected, reported and confirmed.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Never convert a promise or expectation into a confirmed event.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If information is unclear, request clarification instead of assuming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Return only the email body in plain text.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70C9F8-95E1-4E3A-A2D1-BE1C80CE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14 / 20</a:t>
            </a:r>
          </a:p>
        </p:txBody>
      </p:sp>
    </p:spTree>
    <p:extLst>
      <p:ext uri="{BB962C8B-B14F-4D97-AF65-F5344CB8AC3E}">
        <p14:creationId xmlns:p14="http://schemas.microsoft.com/office/powerpoint/2010/main" val="131850970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504A7F-27C6-4068-8034-626D08ED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F9A04B-85FB-4376-BFF4-11B32011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E3BACF-A6CF-4D49-8528-4BC7EE55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BUILD 04 · HUMAN CONTROL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C7F7A5-3DDA-43FE-B0F0-60D1DC70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The draft appears before the flow asks for authority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7FE9C-B236-4ADF-9533-09B6EA57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2266950"/>
            <a:ext cx="238125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D91CD7-3982-4A27-8601-94F7DCDF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90750"/>
            <a:ext cx="238125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06975C-44CC-4EA3-9658-72765A9C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381250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Draft exists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58CDA-10B3-45B5-8D1F-6DC5D108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24150"/>
            <a:ext cx="1924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Ask AI 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28968A-3E40-4AC5-ABFB-9C2FBE53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266950"/>
            <a:ext cx="238125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D6D3ED-8C76-475D-A108-D1EEC4AF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190750"/>
            <a:ext cx="238125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1E3BAB-67B6-4353-9248-CF3F5055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381250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Show submitter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2CF5B2-849F-4446-A8D4-CABFA1D8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724150"/>
            <a:ext cx="1924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Respond on UI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CCEA3E-8C53-43AC-B4AB-EBEB8FEB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266950"/>
            <a:ext cx="238125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DD8AD1-B8CF-46E7-876E-3ABD14F1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90750"/>
            <a:ext cx="238125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2D4E3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8AA26F-4788-4A8C-B2E9-787E6FF3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81250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Ask reviewer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B4D03-4313-4CF5-AFD1-DAD19629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24150"/>
            <a:ext cx="1924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Gmail pauses the run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4601AE-D4D2-448B-9E7B-1E333A07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38438"/>
            <a:ext cx="690563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EEB277-9A32-47C4-BDED-D310D49F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4813" y="2738438"/>
            <a:ext cx="595313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C58375-76A6-4787-8EC4-F85B6643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90813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39934C-2E80-4EE0-87C1-E4D849E7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38438"/>
            <a:ext cx="690563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617856-645E-4C6B-819A-C8585532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2738438"/>
            <a:ext cx="595313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8410CF-CC33-4CCE-826E-38A3094A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90813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35B250-A6B7-4603-BBFF-D7277EFC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029075"/>
            <a:ext cx="64770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C78301-E227-4C80-81A0-CA9D3134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52875"/>
            <a:ext cx="64770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07494A-7345-4CDE-A513-19F63C5D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124325"/>
            <a:ext cx="601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NOTE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74D2ED-F2D7-4DFA-BE12-F768840D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467225"/>
            <a:ext cx="60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Current approval action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DEAB37-DBCA-4F31-9DC4-4EB9FAB1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848225"/>
            <a:ext cx="6019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1146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Use Gmail “Request Approval in Email”. The legacy approval piece remains supported but is not the recommended choice for a new flow.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A08238-67B3-4F8D-8BF5-BD34D968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15 / 20</a:t>
            </a:r>
          </a:p>
        </p:txBody>
      </p:sp>
    </p:spTree>
    <p:extLst>
      <p:ext uri="{BB962C8B-B14F-4D97-AF65-F5344CB8AC3E}">
        <p14:creationId xmlns:p14="http://schemas.microsoft.com/office/powerpoint/2010/main" val="201357468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590CE0-4365-4C35-980A-B24D93F7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4C3FB9-8E03-4FF7-9D6D-0C927F8C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542BF4-B54E-43FE-AC56-62EBAF60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DEMO 04 · PAUSE AND RESUME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84246-B79D-484D-94A6-E1F74663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Approval produces a Boolean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6F9F8-B8AF-4761-A62C-F197A1F5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3143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55E2EF-8D6B-4EDF-90F6-0D7D80FF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3143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2D4E3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CCDD4-B508-41FC-BAE5-AF483307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26695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BEFORE 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6851FB-44AB-49EE-A643-266418ED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6098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Paused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1337D-8B99-4EF0-8B9A-ABBF6116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3067050"/>
            <a:ext cx="2686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The run waits.</a:t>
            </a:r>
          </a:p>
          <a:p xmlns:a="http://schemas.openxmlformats.org/drawingml/2006/main">
            <a:pPr algn="l">
              <a:defRPr sz="15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No supplier message exists yet.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D22DF9-8083-46AB-86CA-2E39C41E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146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2250" b="1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approve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ACD416-AD07-484E-A35F-527015B6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71700"/>
            <a:ext cx="3143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A9B9E9-4FF3-4A75-936C-C81396A6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95500"/>
            <a:ext cx="3143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75FF8A-CA92-44D4-A9C5-B0C14C5A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26695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AFTER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2478DC-1359-45A5-8EBA-731AE1CC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098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Resumed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737A4B-8107-4587-8016-CF6999B1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067050"/>
            <a:ext cx="2686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{</a:t>
            </a:r>
          </a:p>
          <a:p xmlns:a="http://schemas.openxmlformats.org/drawingml/2006/main">
            <a:pPr algn="l">
              <a:defRPr sz="180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  approved: true</a:t>
            </a:r>
          </a:p>
          <a:p xmlns:a="http://schemas.openxmlformats.org/drawingml/2006/main">
            <a:pPr algn="l">
              <a:defRPr sz="180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790E11-5342-4FAF-BE76-8E96C8D9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3048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3A48CE-FA24-40A1-AA94-A205314D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16 / 20</a:t>
            </a:r>
          </a:p>
        </p:txBody>
      </p:sp>
    </p:spTree>
    <p:extLst>
      <p:ext uri="{BB962C8B-B14F-4D97-AF65-F5344CB8AC3E}">
        <p14:creationId xmlns:p14="http://schemas.microsoft.com/office/powerpoint/2010/main" val="132370815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833998-74E2-4A39-B5E3-248485AE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356C34-DAF4-4E2E-923F-922C8493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B608F-6E4B-40AC-87DA-250D74A5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BUILD 05 · ROUTE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A2875-726C-4A5C-B62D-26B8A96E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Only one branch contains the send action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A24A9C-2711-4B37-B3DB-8CC3C5FE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2095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E346C-C19D-483E-BAE8-210F0029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857500"/>
            <a:ext cx="2095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2D4E3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E9A1C-9655-41F1-9D44-C45D12AB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0480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Approval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0BFAB-810D-40FB-B4F7-B04149A9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39090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approved = true / 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C5227D-DE38-411D-AD18-5A40A0A1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933700"/>
            <a:ext cx="2000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82E149-669C-47B9-A541-77029813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857500"/>
            <a:ext cx="2000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8DDF5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13629F-B1DC-4935-84C4-62FBE957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048000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Branch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12FE60-3CBC-43B9-A3E5-0268CAFA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3909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Is true?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FD7307-D9DA-4FF6-8153-5FBB55998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28825"/>
            <a:ext cx="2476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6E551-DE12-4937-9A84-7DFE5C19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52625"/>
            <a:ext cx="2476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4A2752-4274-47EE-A6D1-764DD9E4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143125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Send supplier email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226062-29F6-4970-9E87-E56E02BE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486025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approved path only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175B28-758C-42FA-9212-A0646879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76700"/>
            <a:ext cx="2476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3B27C3-3ED8-43E6-AC5D-320BE600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00500"/>
            <a:ext cx="2476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5B6226-5C06-400A-9FA9-38B83E95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1910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End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229F65-BE3E-43DE-A2C8-3CB5FC53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5339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disapproved path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9B7A84-8F38-4306-BDE8-9B95C5D4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381375"/>
            <a:ext cx="476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9F5F08-940F-4B93-86F8-1CD8B14F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381375"/>
            <a:ext cx="381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899E09-CA59-40C8-BDD8-C42F9DCC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333750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C420E-58C0-4221-803C-AB55EFB4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81375"/>
            <a:ext cx="10001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F66823-D003-4D40-9A88-04AA1BFE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28875"/>
            <a:ext cx="9525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09358D-D43E-4047-9D50-F51F0378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28875"/>
            <a:ext cx="9048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AA7CB1-6C58-4301-B5D6-490F013E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381250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AE1E7C-5094-4086-96A8-F515187D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81375"/>
            <a:ext cx="10001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3C880A-287B-4DF7-9A19-976CE049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81375"/>
            <a:ext cx="9525" cy="1095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466D5B-56FA-4187-82EA-4BD0CF29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76750"/>
            <a:ext cx="9048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8A88AA-D6BC-4464-8EE4-A5CE6A12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429125"/>
            <a:ext cx="952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231F"/>
          </a:solidFill>
          <a:ln xmlns:a="http://schemas.openxmlformats.org/drawingml/2006/main" w="0">
            <a:solidFill>
              <a:srgbClr val="22231F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6394F5-2A81-4F8E-805B-D0500F6D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907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5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true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EEA013-5097-4491-AE0E-423DAC48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815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5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otherwise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1DB452-28C0-45AC-9F66-85096B45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17 / 20</a:t>
            </a:r>
          </a:p>
        </p:txBody>
      </p:sp>
    </p:spTree>
    <p:extLst>
      <p:ext uri="{BB962C8B-B14F-4D97-AF65-F5344CB8AC3E}">
        <p14:creationId xmlns:p14="http://schemas.microsoft.com/office/powerpoint/2010/main" val="91921840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BB8DA-E626-4D33-8730-DA65C1F9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76468A-F97C-422C-A87D-6DE86AE2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A49348-61C5-4B12-B191-9750CAA6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03 · TEST 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9EEB6-012F-4BAB-B892-9F849A1A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Five cases reveal whether the workflow is safe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742950" y="1762125"/>
          <a:ext xmlns:a="http://schemas.openxmlformats.org/drawingml/2006/main" cx="10715625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3238500"/>
                <a:gridCol w="3714750"/>
                <a:gridCol w="2143125"/>
              </a:tblGrid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31F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Case</a:t>
                      </a:r>
                    </a:p>
                  </a:txBody>
                  <a:tcPr marL="95250" marR="95250" marT="76200" marB="76200" anchor="ctr">
                    <a:solidFill>
                      <a:srgbClr val="FBEA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31F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Input change</a:t>
                      </a:r>
                    </a:p>
                  </a:txBody>
                  <a:tcPr marL="95250" marR="95250" marT="76200" marB="76200" anchor="ctr">
                    <a:solidFill>
                      <a:srgbClr val="FBEA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31F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Expected behavior</a:t>
                      </a:r>
                    </a:p>
                  </a:txBody>
                  <a:tcPr marL="95250" marR="95250" marT="76200" marB="76200" anchor="ctr">
                    <a:solidFill>
                      <a:srgbClr val="FBEA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31F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Inspect</a:t>
                      </a:r>
                    </a:p>
                  </a:txBody>
                  <a:tcPr marL="95250" marR="95250" marT="76200" marB="76200" anchor="ctr">
                    <a:solidFill>
                      <a:srgbClr val="FBEAB0"/>
                    </a:solidFill>
                  </a:tcPr>
                </a:tc>
              </a:tr>
              <a:tr h="619125">
                <a:tc>
                  <a:txBody>
                    <a:bodyPr lIns="76200" tIns="57150" rIns="76200" bIns="57150"/>
                    <a:lstStyle/>
                    <a:p>
                      <a:r>
                        <a:rPr sz="1050" b="1">
                          <a:solidFill>
                            <a:srgbClr val="9E315E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Routine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Delivery is on schedule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Friendly status request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risk + tone</a:t>
                      </a:r>
                    </a:p>
                  </a:txBody>
                  <a:tcPr marL="95250" marR="95250" marT="66675" marB="66675" anchor="ctr"/>
                </a:tc>
              </a:tr>
              <a:tr h="619125">
                <a:tc>
                  <a:txBody>
                    <a:bodyPr lIns="76200" tIns="57150" rIns="76200" bIns="57150"/>
                    <a:lstStyle/>
                    <a:p>
                      <a:r>
                        <a:rPr sz="1050" b="1">
                          <a:solidFill>
                            <a:srgbClr val="9E315E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AtRisk</a:t>
                      </a:r>
                    </a:p>
                  </a:txBody>
                  <a:tcPr marL="95250" marR="95250" marT="66675" marB="66675" anchor="ctr"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Dispatch promised, no tracking</a:t>
                      </a:r>
                    </a:p>
                  </a:txBody>
                  <a:tcPr marL="95250" marR="95250" marT="66675" marB="66675" anchor="ctr"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Firm request within one day</a:t>
                      </a:r>
                    </a:p>
                  </a:txBody>
                  <a:tcPr marL="95250" marR="95250" marT="66675" marB="66675" anchor="ctr"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facts + draft</a:t>
                      </a:r>
                    </a:p>
                  </a:txBody>
                  <a:tcPr marL="95250" marR="95250" marT="66675" marB="66675" anchor="ctr">
                    <a:solidFill>
                      <a:srgbClr val="FFFDF7"/>
                    </a:solidFill>
                  </a:tcPr>
                </a:tc>
              </a:tr>
              <a:tr h="619125">
                <a:tc>
                  <a:txBody>
                    <a:bodyPr lIns="76200" tIns="57150" rIns="76200" bIns="57150"/>
                    <a:lstStyle/>
                    <a:p>
                      <a:r>
                        <a:rPr sz="1050" b="1">
                          <a:solidFill>
                            <a:srgbClr val="9E315E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Critical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Production or customer commitment affected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Same-day response request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risk + approval</a:t>
                      </a:r>
                    </a:p>
                  </a:txBody>
                  <a:tcPr marL="95250" marR="95250" marT="66675" marB="66675" anchor="ctr"/>
                </a:tc>
              </a:tr>
              <a:tr h="619125">
                <a:tc>
                  <a:txBody>
                    <a:bodyPr lIns="76200" tIns="57150" rIns="76200" bIns="57150"/>
                    <a:lstStyle/>
                    <a:p>
                      <a:r>
                        <a:rPr sz="1050" b="1">
                          <a:solidFill>
                            <a:srgbClr val="9E315E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Ambiguous</a:t>
                      </a:r>
                    </a:p>
                  </a:txBody>
                  <a:tcPr marL="95250" marR="95250" marT="66675" marB="66675" anchor="ctr"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No date and vague update</a:t>
                      </a:r>
                    </a:p>
                  </a:txBody>
                  <a:tcPr marL="95250" marR="95250" marT="66675" marB="66675" anchor="ctr"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Ask for clarity; avoid invented facts</a:t>
                      </a:r>
                    </a:p>
                  </a:txBody>
                  <a:tcPr marL="95250" marR="95250" marT="66675" marB="66675" anchor="ctr"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draft</a:t>
                      </a:r>
                    </a:p>
                  </a:txBody>
                  <a:tcPr marL="95250" marR="95250" marT="66675" marB="66675" anchor="ctr">
                    <a:solidFill>
                      <a:srgbClr val="FFFDF7"/>
                    </a:solidFill>
                  </a:tcPr>
                </a:tc>
              </a:tr>
              <a:tr h="619125">
                <a:tc>
                  <a:txBody>
                    <a:bodyPr lIns="76200" tIns="57150" rIns="76200" bIns="57150"/>
                    <a:lstStyle/>
                    <a:p>
                      <a:r>
                        <a:rPr sz="1050" b="1">
                          <a:solidFill>
                            <a:srgbClr val="9E315E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Disapproved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Reviewer rejects the message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No supplier email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2231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branch + runs</a:t>
                      </a:r>
                    </a:p>
                  </a:txBody>
                  <a:tcPr marL="95250" marR="95250" marT="66675" marB="66675" anchor="ctr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2B4D6F-0F1C-4E2F-BB1B-C5FDB7EC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18 / 20</a:t>
            </a:r>
          </a:p>
        </p:txBody>
      </p:sp>
    </p:spTree>
    <p:extLst>
      <p:ext uri="{BB962C8B-B14F-4D97-AF65-F5344CB8AC3E}">
        <p14:creationId xmlns:p14="http://schemas.microsoft.com/office/powerpoint/2010/main" val="85816206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B4970A-348E-4316-BB35-AA49EDB1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9E424-A5DB-48D5-A41B-D32521F3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EAE72-F24A-451C-8E62-8F2015E4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04 · TRANSFER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FDC52-F22B-4FDE-B078-F7657768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The pattern travels beyond supplier follow-ups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F3627F-EBA0-42A2-9D07-D03F2043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314575"/>
            <a:ext cx="2381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811493-FCAD-478C-9B2A-1261F98A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2381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DCEEF7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4E116-A505-4F43-AEA5-6FE9E2EB5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9825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A8E446-139B-4048-8104-0AF9338E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52725"/>
            <a:ext cx="192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Service requests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505846-5B92-43AD-AF0A-8BF89FCD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09925"/>
            <a:ext cx="1924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classify and 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BC0F1-B63C-47BA-8642-36C720E8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314575"/>
            <a:ext cx="2381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D4A57C-63EE-4858-A6C4-9A6F78A5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38375"/>
            <a:ext cx="2381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35CDB7-2718-4132-B5F6-27C37695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409825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E304A3-5FCC-4AFF-9C44-F7DD56A2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52725"/>
            <a:ext cx="192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4739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Demand exceptions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C60568-26EE-4062-A50B-66B180E7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09925"/>
            <a:ext cx="1924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explain and escalate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6DEC02-BD8B-4CA4-8C81-CEDBCCC4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14575"/>
            <a:ext cx="2381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071F00-18B3-4543-AB4B-8EEFC84B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38375"/>
            <a:ext cx="2381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2D4E3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BC4A23-F473-4354-B61B-E9DCF58D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9825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ADB205-A187-4899-BDBF-BB88561C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52725"/>
            <a:ext cx="192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Document chasing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6E88BC-B0A6-418A-8122-544267EC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09925"/>
            <a:ext cx="1924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draft and 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B0F6EF-7D6D-47C7-AF61-D59EA3E5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314575"/>
            <a:ext cx="2381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3850C0-0133-4210-B8A2-9410C95B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238375"/>
            <a:ext cx="2381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11F7B8-E075-4572-B78D-B80C9B4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9825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7C6FD6-5A75-4F82-B104-4283542C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52725"/>
            <a:ext cx="192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Meeting actions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418F6E-EB84-40DE-A780-FEE820F7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09925"/>
            <a:ext cx="1924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extract and assign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996976-C4F6-4988-AD81-629466FF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781675"/>
            <a:ext cx="4476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BEA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A1E029-DEC0-4262-BD4F-3798A4EE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857875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062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494840"/>
                </a:solidFill>
                <a:latin typeface="Courier New"/>
                <a:ea typeface="Courier New"/>
                <a:cs typeface="Courier New"/>
              </a:defRPr>
            </a:pPr>
            <a:r>
              <a:rPr sz="900" b="0" i="0">
                <a:solidFill>
                  <a:srgbClr val="494840"/>
                </a:solidFill>
                <a:latin typeface="Courier New"/>
                <a:ea typeface="Courier New"/>
                <a:cs typeface="Courier New"/>
              </a:rPr>
              <a:t>Keep the labels narrow and the consequential action reviewable.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105FFE-CA5E-443E-B48E-176FD978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19 / 20</a:t>
            </a:r>
          </a:p>
        </p:txBody>
      </p:sp>
    </p:spTree>
    <p:extLst>
      <p:ext uri="{BB962C8B-B14F-4D97-AF65-F5344CB8AC3E}">
        <p14:creationId xmlns:p14="http://schemas.microsoft.com/office/powerpoint/2010/main" val="200251030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E88D55-AA03-49E5-B56A-EA43DFEB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09550"/>
            <a:ext cx="11734800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FD1D74-1D4D-4826-9082-EA3B8B0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"/>
            <a:ext cx="11468100" cy="577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9C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B10A64-6DD7-4E30-BD0A-F598EC8A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55544E"/>
                </a:solidFill>
                <a:latin typeface="Courier New"/>
                <a:ea typeface="Courier New"/>
                <a:cs typeface="Courier New"/>
              </a:rPr>
              <a:t>TAKEAWAYS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A096BC-5346-47B0-BB5B-162E76E3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3225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 useful no-code agent still needs boundaries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1163AF-29D5-4514-98D1-560B1E13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1450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8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DD259-EA74-48CF-8249-220F7850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714500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Repeated work with messy language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629DAF-318E-4A23-AA26-11718590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181225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2733A3-6014-437A-836A-CC5FD28E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8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BBC2E-BF32-4BB9-9A2D-DBFEDA9A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81250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 narrow, inspectable AI decision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20D503-DE4D-4EF7-8E4F-292EA0BD8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847975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1D305D-8FBC-4EFE-8BB5-94C7E8A2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4800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8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A6C297-E3FA-4B0B-81D0-2CBEF076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48000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Source facts carried into the draft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C9FA6B-31C2-41D8-ADF3-1ACC7233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514725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B0AABE-FBCE-4325-AC48-804C353D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147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8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59F4D2-F485-44F1-A350-CA651912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714750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 person before external 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17B328-1355-42EF-9EC4-94148B2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181475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dash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A177ED-2DB8-4888-9204-8E565BF8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38150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8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59DC9C-F8B6-4D56-891A-43E54F55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381500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A tested stop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C441EC-B50F-4D19-9C51-A9E0B92B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848225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ABF"/>
            </a:solidFill>
            <a:prstDash val="dash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FFFC3-6036-4CD0-9E09-7C0F98D0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2669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BEB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1AD054-0F9F-4AC5-9E55-C9041A0B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907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5F7B8"/>
          </a:solidFill>
          <a:ln xmlns:a="http://schemas.openxmlformats.org/drawingml/2006/main" w="19050">
            <a:solidFill>
              <a:srgbClr val="22231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4C938D-3542-4CC3-AEA7-97CB8A27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62200"/>
            <a:ext cx="1638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 i="0">
                <a:solidFill>
                  <a:srgbClr val="68675F"/>
                </a:solidFill>
                <a:latin typeface="Courier New"/>
                <a:ea typeface="Courier New"/>
                <a:cs typeface="Courier New"/>
              </a:rPr>
              <a:t>QUESTIONS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C38CA3-176F-4128-BD01-2FD9AE70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7051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22231F"/>
                </a:solidFill>
                <a:latin typeface="Avenir Next"/>
                <a:ea typeface="Avenir Next"/>
                <a:cs typeface="Avenir Next"/>
              </a:rPr>
              <a:t>Continue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0C968F-1ACE-4395-B6D5-C651E3D3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62300"/>
            <a:ext cx="1638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everythingpython.in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linkedin.com/in/</a:t>
            </a:r>
          </a:p>
          <a:p xmlns:a="http://schemas.openxmlformats.org/drawingml/2006/main">
            <a:pPr algn="l">
              <a:def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68675F"/>
                </a:solidFill>
                <a:latin typeface="Avenir Next"/>
                <a:ea typeface="Avenir Next"/>
                <a:cs typeface="Avenir Next"/>
              </a:rPr>
              <a:t>abhiramr5459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3BDECB-3D3D-4C4C-A466-F5CF7AC6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defRPr>
            </a:pPr>
            <a:r>
              <a:rPr sz="1575" b="0" i="0">
                <a:solidFill>
                  <a:srgbClr val="9E315E"/>
                </a:solidFill>
                <a:latin typeface="Bradley Hand"/>
                <a:ea typeface="Bradley Hand"/>
                <a:cs typeface="Bradley Hand"/>
              </a:rPr>
              <a:t>Approve the action, not the appearance of confidence.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44366B-832C-48C6-9B36-A47A9271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62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defRPr>
            </a:pPr>
            <a:r>
              <a:rPr sz="750" b="0" i="0">
                <a:solidFill>
                  <a:srgbClr val="77746C"/>
                </a:solidFill>
                <a:latin typeface="Courier New"/>
                <a:ea typeface="Courier New"/>
                <a:cs typeface="Courier New"/>
              </a:rPr>
              <a:t>20 / 20</a:t>
            </a:r>
          </a:p>
        </p:txBody>
      </p:sp>
    </p:spTree>
    <p:extLst>
      <p:ext uri="{BB962C8B-B14F-4D97-AF65-F5344CB8AC3E}">
        <p14:creationId xmlns:p14="http://schemas.microsoft.com/office/powerpoint/2010/main" val="1728086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2026-09-13T07:56:53.7620000Z</dcterms:created>
  <dcterms:modified xsi:type="dcterms:W3CDTF">2026-09-13T07:56:53.7620000Z</dcterms:modified>
</coreProperties>
</file>